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821" y="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4205467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1062607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3067714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57470F4-2409-489D-9474-684CB8567E7F}"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1943586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57470F4-2409-489D-9474-684CB8567E7F}" type="datetimeFigureOut">
              <a:rPr lang="en-US" smtClean="0"/>
              <a:t>7/8/2026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1886910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57470F4-2409-489D-9474-684CB8567E7F}" type="datetimeFigureOut">
              <a:rPr lang="en-US" smtClean="0"/>
              <a:t>7/8/2026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3616509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7470F4-2409-489D-9474-684CB8567E7F}" type="datetimeFigureOut">
              <a:rPr lang="en-US" smtClean="0"/>
              <a:t>7/8/2026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2873294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57470F4-2409-489D-9474-684CB8567E7F}"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3351096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57470F4-2409-489D-9474-684CB8567E7F}" type="datetimeFigureOut">
              <a:rPr lang="en-US" smtClean="0"/>
              <a:t>7/8/2026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3504039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2160690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69764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19876110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47070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1545785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23070672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57470F4-2409-489D-9474-684CB8567E7F}" type="datetimeFigureOut">
              <a:rPr lang="en-US" smtClean="0"/>
              <a:t>7/8/2026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F0DCC4-0B8A-48A1-BB06-76FE215B6186}" type="slidenum">
              <a:rPr lang="en-US" smtClean="0"/>
              <a:t>‹#›</a:t>
            </a:fld>
            <a:endParaRPr lang="en-US"/>
          </a:p>
        </p:txBody>
      </p:sp>
    </p:spTree>
    <p:extLst>
      <p:ext uri="{BB962C8B-B14F-4D97-AF65-F5344CB8AC3E}">
        <p14:creationId xmlns:p14="http://schemas.microsoft.com/office/powerpoint/2010/main" val="2998545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7470F4-2409-489D-9474-684CB8567E7F}" type="datetimeFigureOut">
              <a:rPr lang="en-US" smtClean="0"/>
              <a:t>7/8/2026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5F0DCC4-0B8A-48A1-BB06-76FE215B6186}" type="slidenum">
              <a:rPr lang="en-US" smtClean="0"/>
              <a:t>‹#›</a:t>
            </a:fld>
            <a:endParaRPr lang="en-US"/>
          </a:p>
        </p:txBody>
      </p:sp>
    </p:spTree>
    <p:extLst>
      <p:ext uri="{BB962C8B-B14F-4D97-AF65-F5344CB8AC3E}">
        <p14:creationId xmlns:p14="http://schemas.microsoft.com/office/powerpoint/2010/main" val="20101675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PHISHING AWARENESS  </a:t>
            </a:r>
            <a:endParaRPr lang="en-US" dirty="0"/>
          </a:p>
        </p:txBody>
      </p:sp>
    </p:spTree>
    <p:extLst>
      <p:ext uri="{BB962C8B-B14F-4D97-AF65-F5344CB8AC3E}">
        <p14:creationId xmlns:p14="http://schemas.microsoft.com/office/powerpoint/2010/main" val="34014334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What is Phishing?</a:t>
            </a:r>
            <a:endParaRPr lang="en-US" dirty="0"/>
          </a:p>
        </p:txBody>
      </p:sp>
      <p:sp>
        <p:nvSpPr>
          <p:cNvPr id="3" name="Content Placeholder 2"/>
          <p:cNvSpPr>
            <a:spLocks noGrp="1"/>
          </p:cNvSpPr>
          <p:nvPr>
            <p:ph idx="1"/>
          </p:nvPr>
        </p:nvSpPr>
        <p:spPr/>
        <p:txBody>
          <a:bodyPr/>
          <a:lstStyle/>
          <a:p>
            <a:r>
              <a:rPr lang="en-US" sz="2400" b="1" dirty="0"/>
              <a:t>Phishing</a:t>
            </a:r>
            <a:r>
              <a:rPr lang="en-US" sz="2400" dirty="0"/>
              <a:t> is a cyberattack in which attackers pretend to be a trusted person or organization to trick users into revealing sensitive information such as passwords, bank details, or personal data. It is commonly carried out through fake emails, messages, or websites. The goal is to steal information or gain unauthorized access to accounts</a:t>
            </a:r>
          </a:p>
        </p:txBody>
      </p:sp>
    </p:spTree>
    <p:extLst>
      <p:ext uri="{BB962C8B-B14F-4D97-AF65-F5344CB8AC3E}">
        <p14:creationId xmlns:p14="http://schemas.microsoft.com/office/powerpoint/2010/main" val="33380812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How do attackers attack?</a:t>
            </a:r>
            <a:endParaRPr lang="en-US" dirty="0"/>
          </a:p>
        </p:txBody>
      </p:sp>
      <p:sp>
        <p:nvSpPr>
          <p:cNvPr id="4" name="Rectangle 1"/>
          <p:cNvSpPr>
            <a:spLocks noGrp="1" noChangeArrowheads="1"/>
          </p:cNvSpPr>
          <p:nvPr>
            <p:ph idx="1"/>
          </p:nvPr>
        </p:nvSpPr>
        <p:spPr bwMode="auto">
          <a:xfrm>
            <a:off x="677334" y="2023483"/>
            <a:ext cx="941636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defTabSz="914400" eaLnBrk="0" fontAlgn="base" hangingPunct="0">
              <a:spcBef>
                <a:spcPct val="0"/>
              </a:spcBef>
              <a:spcAft>
                <a:spcPct val="0"/>
              </a:spcAft>
              <a:buClrTx/>
              <a:buSzTx/>
              <a:buNone/>
            </a:pPr>
            <a:r>
              <a:rPr kumimoji="0" lang="en-US" altLang="en-US" sz="2400" b="0" i="0" u="none" strike="noStrike" cap="none" normalizeH="0" baseline="0" dirty="0" smtClean="0">
                <a:ln>
                  <a:noFill/>
                </a:ln>
                <a:solidFill>
                  <a:schemeClr val="tx1"/>
                </a:solidFill>
                <a:effectLst/>
                <a:latin typeface="Arial" panose="020B0604020202020204" pitchFamily="34" charset="0"/>
              </a:rPr>
              <a:t>    Attackers usually carry out phishing attacks by:</a:t>
            </a:r>
          </a:p>
          <a:p>
            <a:pPr defTabSz="914400" eaLnBrk="0" fontAlgn="base" hangingPunct="0">
              <a:spcBef>
                <a:spcPct val="0"/>
              </a:spcBef>
              <a:spcAft>
                <a:spcPct val="0"/>
              </a:spcAft>
              <a:buClrTx/>
              <a:buSzTx/>
              <a:buFont typeface="Wingdings" panose="05000000000000000000" pitchFamily="2" charset="2"/>
              <a:buChar char="§"/>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SzTx/>
              <a:buFont typeface="Wingdings" panose="05000000000000000000" pitchFamily="2" charset="2"/>
              <a:buChar char="§"/>
            </a:pPr>
            <a:r>
              <a:rPr kumimoji="0" lang="en-US" altLang="en-US" sz="2400" b="0" i="0" u="none" strike="noStrike" cap="none" normalizeH="0" baseline="0" dirty="0" smtClean="0">
                <a:ln>
                  <a:noFill/>
                </a:ln>
                <a:solidFill>
                  <a:schemeClr val="tx1"/>
                </a:solidFill>
                <a:effectLst/>
                <a:latin typeface="Arial" panose="020B0604020202020204" pitchFamily="34" charset="0"/>
              </a:rPr>
              <a:t>Creating fake emails, text messages, or websites that look like</a:t>
            </a:r>
          </a:p>
          <a:p>
            <a:pPr marL="0" indent="0" defTabSz="914400" eaLnBrk="0" fontAlgn="base" hangingPunct="0">
              <a:spcBef>
                <a:spcPct val="0"/>
              </a:spcBef>
              <a:spcAft>
                <a:spcPct val="0"/>
              </a:spcAft>
              <a:buClrTx/>
              <a:buSzTx/>
              <a:buNone/>
            </a:pPr>
            <a:r>
              <a:rPr lang="en-US" altLang="en-US" sz="2400" dirty="0">
                <a:solidFill>
                  <a:schemeClr val="tx1"/>
                </a:solidFill>
                <a:latin typeface="Arial" panose="020B0604020202020204" pitchFamily="34" charset="0"/>
              </a:rPr>
              <a:t> </a:t>
            </a:r>
            <a:r>
              <a:rPr lang="en-US" altLang="en-US" sz="2400" dirty="0" smtClean="0">
                <a:solidFill>
                  <a:schemeClr val="tx1"/>
                </a:solidFill>
                <a:latin typeface="Arial" panose="020B0604020202020204" pitchFamily="34" charset="0"/>
              </a:rPr>
              <a:t>   </a:t>
            </a:r>
            <a:r>
              <a:rPr kumimoji="0" lang="en-US" altLang="en-US" sz="2400" b="0" i="0" u="none" strike="noStrike" cap="none" normalizeH="0" baseline="0" dirty="0" smtClean="0">
                <a:ln>
                  <a:noFill/>
                </a:ln>
                <a:solidFill>
                  <a:schemeClr val="tx1"/>
                </a:solidFill>
                <a:effectLst/>
                <a:latin typeface="Arial" panose="020B0604020202020204" pitchFamily="34" charset="0"/>
              </a:rPr>
              <a:t>they come from trusted organizations.</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b="0" i="0" u="none" strike="noStrike" cap="none" normalizeH="0" baseline="0" dirty="0" smtClean="0">
                <a:ln>
                  <a:noFill/>
                </a:ln>
                <a:solidFill>
                  <a:schemeClr val="tx1"/>
                </a:solidFill>
                <a:effectLst/>
                <a:latin typeface="Arial" panose="020B0604020202020204" pitchFamily="34" charset="0"/>
              </a:rPr>
              <a:t>Sending messages that encourage users to click a malicious link </a:t>
            </a:r>
          </a:p>
          <a:p>
            <a:pPr marL="0" indent="0" defTabSz="914400" eaLnBrk="0" fontAlgn="base" hangingPunct="0">
              <a:spcBef>
                <a:spcPct val="0"/>
              </a:spcBef>
              <a:spcAft>
                <a:spcPct val="0"/>
              </a:spcAft>
              <a:buClrTx/>
              <a:buSzTx/>
              <a:buNone/>
            </a:pPr>
            <a:r>
              <a:rPr kumimoji="0" lang="en-US" altLang="en-US" sz="2400" b="0" i="0" u="none" strike="noStrike" cap="none" normalizeH="0" baseline="0" dirty="0" smtClean="0">
                <a:ln>
                  <a:noFill/>
                </a:ln>
                <a:solidFill>
                  <a:schemeClr val="tx1"/>
                </a:solidFill>
                <a:effectLst/>
                <a:latin typeface="Arial" panose="020B0604020202020204" pitchFamily="34" charset="0"/>
              </a:rPr>
              <a:t>    or download an infected attachment.</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b="0" i="0" u="none" strike="noStrike" cap="none" normalizeH="0" baseline="0" dirty="0" smtClean="0">
                <a:ln>
                  <a:noFill/>
                </a:ln>
                <a:solidFill>
                  <a:schemeClr val="tx1"/>
                </a:solidFill>
                <a:effectLst/>
                <a:latin typeface="Arial" panose="020B0604020202020204" pitchFamily="34" charset="0"/>
              </a:rPr>
              <a:t>Using the stolen information to access accounts, steal money. </a:t>
            </a:r>
          </a:p>
          <a:p>
            <a:pPr defTabSz="914400" eaLnBrk="0" fontAlgn="base" hangingPunct="0">
              <a:spcBef>
                <a:spcPct val="0"/>
              </a:spcBef>
              <a:spcAft>
                <a:spcPct val="0"/>
              </a:spcAft>
              <a:buClrTx/>
              <a:buSzTx/>
              <a:buFont typeface="Wingdings" panose="05000000000000000000" pitchFamily="2" charset="2"/>
              <a:buChar char="§"/>
            </a:pPr>
            <a:r>
              <a:rPr kumimoji="0" lang="en-US" altLang="en-US" sz="2400" b="0" i="0" u="none" strike="noStrike" cap="none" normalizeH="0" baseline="0" dirty="0" smtClean="0">
                <a:ln>
                  <a:noFill/>
                </a:ln>
                <a:solidFill>
                  <a:schemeClr val="tx1"/>
                </a:solidFill>
                <a:effectLst/>
                <a:latin typeface="Arial" panose="020B0604020202020204" pitchFamily="34" charset="0"/>
              </a:rPr>
              <a:t>Tricking victims into entering sensitive information such as</a:t>
            </a:r>
          </a:p>
          <a:p>
            <a:pPr marL="0" indent="0" defTabSz="914400" eaLnBrk="0" fontAlgn="base" hangingPunct="0">
              <a:spcBef>
                <a:spcPct val="0"/>
              </a:spcBef>
              <a:spcAft>
                <a:spcPct val="0"/>
              </a:spcAft>
              <a:buClrTx/>
              <a:buSzTx/>
              <a:buNone/>
            </a:pPr>
            <a:r>
              <a:rPr lang="en-US" altLang="en-US" sz="2400" dirty="0">
                <a:solidFill>
                  <a:schemeClr val="tx1"/>
                </a:solidFill>
                <a:latin typeface="Arial" panose="020B0604020202020204" pitchFamily="34" charset="0"/>
              </a:rPr>
              <a:t> </a:t>
            </a:r>
            <a:r>
              <a:rPr lang="en-US" altLang="en-US" sz="2400" dirty="0" smtClean="0">
                <a:solidFill>
                  <a:schemeClr val="tx1"/>
                </a:solidFill>
                <a:latin typeface="Arial" panose="020B0604020202020204" pitchFamily="34" charset="0"/>
              </a:rPr>
              <a:t>  </a:t>
            </a:r>
            <a:r>
              <a:rPr kumimoji="0" lang="en-US" altLang="en-US" sz="2400" b="0" i="0" u="none" strike="noStrike" cap="none" normalizeH="0" baseline="0" dirty="0" smtClean="0">
                <a:ln>
                  <a:noFill/>
                </a:ln>
                <a:solidFill>
                  <a:schemeClr val="tx1"/>
                </a:solidFill>
                <a:effectLst/>
                <a:latin typeface="Arial" panose="020B0604020202020204" pitchFamily="34" charset="0"/>
              </a:rPr>
              <a:t> usernames, passwords, or banking details on fake websites.</a:t>
            </a:r>
          </a:p>
          <a:p>
            <a:pPr marL="0" indent="0" defTabSz="914400" eaLnBrk="0" fontAlgn="base" hangingPunct="0">
              <a:spcBef>
                <a:spcPct val="0"/>
              </a:spcBef>
              <a:spcAft>
                <a:spcPct val="0"/>
              </a:spcAft>
              <a:buClrTx/>
              <a:buSzTx/>
              <a:buNone/>
            </a:pPr>
            <a:r>
              <a:rPr kumimoji="0" lang="en-US" altLang="en-US" sz="2400" b="0" i="0" u="none" strike="noStrike" cap="none" normalizeH="0" baseline="0" dirty="0" smtClean="0">
                <a:ln>
                  <a:noFill/>
                </a:ln>
                <a:solidFill>
                  <a:schemeClr val="tx1"/>
                </a:solidFill>
                <a:effectLst/>
                <a:latin typeface="Arial" panose="020B0604020202020204" pitchFamily="34" charset="0"/>
              </a:rPr>
              <a:t>    or commit identity fraud.</a:t>
            </a:r>
          </a:p>
          <a:p>
            <a:pPr defTabSz="914400" eaLnBrk="0" fontAlgn="base" hangingPunct="0">
              <a:spcBef>
                <a:spcPct val="0"/>
              </a:spcBef>
              <a:spcAft>
                <a:spcPct val="0"/>
              </a:spcAft>
              <a:buClrTx/>
              <a:buSzTx/>
              <a:buFont typeface="Wingdings" panose="05000000000000000000" pitchFamily="2" charset="2"/>
              <a:buChar char="§"/>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04046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Types of Phishing</a:t>
            </a:r>
            <a:endParaRPr lang="en-US" dirty="0"/>
          </a:p>
        </p:txBody>
      </p:sp>
      <p:sp>
        <p:nvSpPr>
          <p:cNvPr id="4" name="Rectangle 1"/>
          <p:cNvSpPr>
            <a:spLocks noGrp="1" noChangeArrowheads="1"/>
          </p:cNvSpPr>
          <p:nvPr>
            <p:ph idx="1"/>
          </p:nvPr>
        </p:nvSpPr>
        <p:spPr bwMode="auto">
          <a:xfrm>
            <a:off x="677334" y="2392815"/>
            <a:ext cx="601318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Email Phishing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Spear Phishing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Whaling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err="1" smtClean="0">
                <a:ln>
                  <a:noFill/>
                </a:ln>
                <a:solidFill>
                  <a:schemeClr val="tx1"/>
                </a:solidFill>
                <a:effectLst/>
                <a:latin typeface="Arial" panose="020B0604020202020204" pitchFamily="34" charset="0"/>
              </a:rPr>
              <a:t>Smishing</a:t>
            </a:r>
            <a:r>
              <a:rPr kumimoji="0" lang="en-US" altLang="en-US" sz="2400" b="0" i="0" u="none" strike="noStrike" cap="none" normalizeH="0" baseline="0" dirty="0" smtClean="0">
                <a:ln>
                  <a:noFill/>
                </a:ln>
                <a:solidFill>
                  <a:schemeClr val="tx1"/>
                </a:solidFill>
                <a:effectLst/>
                <a:latin typeface="Arial" panose="020B0604020202020204" pitchFamily="34" charset="0"/>
              </a:rPr>
              <a:t> (SMS Phishing)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Vishing (Voice Phishing)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Clone Phishing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Social Media Phishing (Angler Phishing)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46395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How to prevent from phishing attacks?</a:t>
            </a:r>
            <a:endParaRPr lang="en-US" dirty="0"/>
          </a:p>
        </p:txBody>
      </p:sp>
      <p:sp>
        <p:nvSpPr>
          <p:cNvPr id="4" name="Rectangle 1"/>
          <p:cNvSpPr>
            <a:spLocks noGrp="1" noChangeArrowheads="1"/>
          </p:cNvSpPr>
          <p:nvPr>
            <p:ph idx="1"/>
          </p:nvPr>
        </p:nvSpPr>
        <p:spPr bwMode="auto">
          <a:xfrm>
            <a:off x="677334" y="2392815"/>
            <a:ext cx="852669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Verify the sender before responding.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Do not click suspicious links or attachments.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Use strong, unique passwords.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Enable Two-Factor Authentication (2FA).</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Keep your software and antivirus updated.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Check website URLs before entering sensitive information.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Be cautious of urgent or unexpected requests.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Report phishing emails or messages.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1719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t> </a:t>
            </a:r>
            <a:r>
              <a:rPr lang="en-US" sz="6000" dirty="0" smtClean="0"/>
              <a:t>         Thank You!</a:t>
            </a:r>
            <a:endParaRPr lang="en-US" sz="6000" dirty="0"/>
          </a:p>
        </p:txBody>
      </p:sp>
    </p:spTree>
    <p:extLst>
      <p:ext uri="{BB962C8B-B14F-4D97-AF65-F5344CB8AC3E}">
        <p14:creationId xmlns:p14="http://schemas.microsoft.com/office/powerpoint/2010/main" val="3260819846"/>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18</TotalTime>
  <Words>226</Words>
  <Application>Microsoft Office PowerPoint</Application>
  <PresentationFormat>Widescreen</PresentationFormat>
  <Paragraphs>33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Trebuchet MS</vt:lpstr>
      <vt:lpstr>Wingdings</vt:lpstr>
      <vt:lpstr>Wingdings 3</vt:lpstr>
      <vt:lpstr>Facet</vt:lpstr>
      <vt:lpstr>PHISHING AWARENESS  </vt:lpstr>
      <vt:lpstr> What is Phishing?</vt:lpstr>
      <vt:lpstr> How do attackers attack?</vt:lpstr>
      <vt:lpstr> Types of Phishing</vt:lpstr>
      <vt:lpstr> How to prevent from phishing attacks?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AWARENESS</dc:title>
  <dc:creator>HP</dc:creator>
  <cp:lastModifiedBy>HP</cp:lastModifiedBy>
  <cp:revision>2</cp:revision>
  <dcterms:created xsi:type="dcterms:W3CDTF">2026-07-08T10:43:02Z</dcterms:created>
  <dcterms:modified xsi:type="dcterms:W3CDTF">2026-07-08T11:01:27Z</dcterms:modified>
</cp:coreProperties>
</file>